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7"/>
  </p:notesMasterIdLst>
  <p:sldIdLst>
    <p:sldId id="271" r:id="rId2"/>
    <p:sldId id="272" r:id="rId3"/>
    <p:sldId id="280" r:id="rId4"/>
    <p:sldId id="277" r:id="rId5"/>
    <p:sldId id="278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Paleta" id="{B1DC8177-858C-4D18-98B6-3C81E1945164}">
          <p14:sldIdLst>
            <p14:sldId id="271"/>
          </p14:sldIdLst>
        </p14:section>
        <p14:section name="2. Abas" id="{FDFD8E69-5895-4258-946F-769806539379}">
          <p14:sldIdLst>
            <p14:sldId id="272"/>
            <p14:sldId id="280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744"/>
    <a:srgbClr val="1E1F22"/>
    <a:srgbClr val="2F6E6A"/>
    <a:srgbClr val="726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60E14B-1BC0-46CB-B723-42DD4143EEEA}" v="2" dt="2026-08-06T21:22:29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552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B9FB7-6C7A-9A51-06A4-C88DA593D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B3A8A2-F66B-72CE-056E-8645817F18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F9D08-AAFD-C28E-D68A-923375959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526D0-F67E-81F3-CBB7-C15DBD227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851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2B86C-AC2F-6650-D3C4-14B9DEF6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D3D2A-460D-27CB-6A3C-9ED1897B2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F965F-4594-9E19-A94C-346B793FA3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47037-8B79-8475-D605-D91AA9D065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69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CBA7-7ECD-D0F9-5596-1E2C553A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D9464F-9FCE-DF8E-DEA5-AB8FE6BB2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BE648-C860-0066-5231-0CF994467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6133C-4E21-B6E1-12BC-B8EE8A66CD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34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F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Paleta Institucional — Olist Analytics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Cores e tons selecionados, dispostos de forma hierárquica.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423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F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Paleta Principal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24880"/>
            <a:ext cx="3291840" cy="0"/>
          </a:xfrm>
          <a:prstGeom prst="line">
            <a:avLst/>
          </a:prstGeom>
          <a:noFill/>
          <a:ln w="12700">
            <a:solidFill>
              <a:srgbClr val="B8B9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880328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27947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Petróleo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005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#2F6E6A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1880328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1D47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194560" y="279472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Teal — Sombra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00504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#1D4744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389088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3C54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02920" y="43034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Azul Ardósia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513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#3C5470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57400" y="3389088"/>
            <a:ext cx="1600200" cy="1417320"/>
          </a:xfrm>
          <a:prstGeom prst="roundRect">
            <a:avLst>
              <a:gd name="adj" fmla="val 5161"/>
            </a:avLst>
          </a:prstGeom>
          <a:solidFill>
            <a:srgbClr val="2637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2194560" y="43034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Azul — Sombra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451380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#26374A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1423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F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Paleta Neutra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434840" y="1724880"/>
            <a:ext cx="3291840" cy="0"/>
          </a:xfrm>
          <a:prstGeom prst="line">
            <a:avLst/>
          </a:prstGeom>
          <a:noFill/>
          <a:ln w="12700">
            <a:solidFill>
              <a:srgbClr val="B8B9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4434840" y="1880328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617720" y="2044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Branco   #FFFFFF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34840" y="2593560"/>
            <a:ext cx="3291840" cy="603504"/>
          </a:xfrm>
          <a:prstGeom prst="roundRect">
            <a:avLst>
              <a:gd name="adj" fmla="val 12121"/>
            </a:avLst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617720" y="275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Cinza 1   #F2F2F2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34840" y="3306792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B8B9B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4617720" y="34713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Cinza 2   #B8B9BD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4020024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6E707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617720" y="41846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Cinza 3   #6E7075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34840" y="4733256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1E1F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617720" y="48978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Cinza 4   #1E1F22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03920" y="14231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F2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Paleta Secundária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503920" y="1724880"/>
            <a:ext cx="3291840" cy="0"/>
          </a:xfrm>
          <a:prstGeom prst="line">
            <a:avLst/>
          </a:prstGeom>
          <a:noFill/>
          <a:ln w="12700">
            <a:solidFill>
              <a:srgbClr val="B8B9BD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8503920" y="1880328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7A947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8686800" y="19534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Verde Sálvia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220036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#7A9471  ·  Positivo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503920" y="2593560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BC5B3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8686800" y="26667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Terracota Suave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0" y="2913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#BC5B3E  ·  Alerta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503920" y="3306792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C9A2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686800" y="3379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Mostarda Suave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0" y="362683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#C9A227  ·  Atenção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503920" y="4020024"/>
            <a:ext cx="3291840" cy="603504"/>
          </a:xfrm>
          <a:prstGeom prst="roundRect">
            <a:avLst>
              <a:gd name="adj" fmla="val 12121"/>
            </a:avLst>
          </a:prstGeom>
          <a:solidFill>
            <a:srgbClr val="7A5C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686800" y="4093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Ameixa Suave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86800" y="43400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#7A5C7E  ·  Destaque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Uso: Principal em faixas/blocos grandes  ·  Neutra em fundo/texto/estrutura  ·  Secundária só em detalhes pequenos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47456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anvas BG">
            <a:extLst>
              <a:ext uri="{FF2B5EF4-FFF2-40B4-BE49-F238E27FC236}">
                <a16:creationId xmlns:a16="http://schemas.microsoft.com/office/drawing/2014/main" id="{24FDBAD9-CE13-400E-9E24-8CBC631D83F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228600" y="2560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28600" y="256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237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Olist Analytics</a:t>
            </a:r>
            <a:endParaRPr lang="en-US" sz="13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1170432"/>
            <a:ext cx="63500" cy="402336"/>
          </a:xfrm>
          <a:prstGeom prst="roundRect">
            <a:avLst>
              <a:gd name="adj" fmla="val 18182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11478" y="1170432"/>
            <a:ext cx="1554482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rgbClr val="2F6E6A"/>
                </a:solidFill>
                <a:latin typeface="Segoe UI" pitchFamily="34" charset="0"/>
                <a:cs typeface="Segoe UI" pitchFamily="34" charset="-120"/>
              </a:rPr>
              <a:t>Visão</a:t>
            </a:r>
            <a:r>
              <a:rPr lang="en-US" sz="1100" b="1" dirty="0">
                <a:solidFill>
                  <a:srgbClr val="2F6E6A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100" b="1" dirty="0" err="1">
                <a:solidFill>
                  <a:srgbClr val="2F6E6A"/>
                </a:solidFill>
                <a:latin typeface="Segoe UI" pitchFamily="34" charset="0"/>
                <a:cs typeface="Segoe UI" pitchFamily="34" charset="-120"/>
              </a:rPr>
              <a:t>Executiva</a:t>
            </a:r>
            <a:endParaRPr lang="en-US" sz="1100" dirty="0">
              <a:solidFill>
                <a:srgbClr val="1E1F22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Sellers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157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Logística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Geografia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62636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228600" y="6400800"/>
            <a:ext cx="329184" cy="329184"/>
          </a:xfrm>
          <a:prstGeom prst="ellipse">
            <a:avLst/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2860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6382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F22"/>
                </a:solidFill>
                <a:latin typeface="Segoe UI Semilight" panose="020B0402040204020203" pitchFamily="34" charset="0"/>
                <a:ea typeface="Segoe UI" pitchFamily="34" charset="-122"/>
                <a:cs typeface="Segoe UI Semilight" panose="020B0402040204020203" pitchFamily="34" charset="0"/>
              </a:rPr>
              <a:t>Eloisa Ribeiro</a:t>
            </a:r>
            <a:endParaRPr lang="en-US" sz="10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6578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Analista de BI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21160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D474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Visão</a:t>
            </a:r>
            <a:r>
              <a:rPr lang="en-US" sz="2000" b="1" dirty="0">
                <a:solidFill>
                  <a:srgbClr val="1D474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 </a:t>
            </a:r>
            <a:r>
              <a:rPr lang="en-US" sz="2000" b="1" dirty="0" err="1">
                <a:solidFill>
                  <a:srgbClr val="1D474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Executiva</a:t>
            </a:r>
            <a:endParaRPr lang="en-US" sz="2000" dirty="0">
              <a:solidFill>
                <a:srgbClr val="1D4744"/>
              </a:solidFill>
              <a:latin typeface="Segoe UI Black" panose="020B0A02040204020203" pitchFamily="34" charset="0"/>
              <a:ea typeface="Segoe UI Black" panose="020B0A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424160" y="2926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424160" y="292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 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377440" y="736600"/>
            <a:ext cx="223266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54254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 TOTAL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13300" y="736600"/>
            <a:ext cx="223266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497840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TICKET MÉDIO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49159" y="736600"/>
            <a:ext cx="223266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7414259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 MÉDIA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685020" y="736600"/>
            <a:ext cx="223266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985012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TAXA CANCELAMENTO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77440" y="1930400"/>
            <a:ext cx="6492240" cy="24892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560320" y="19939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Receita </a:t>
            </a:r>
            <a:r>
              <a:rPr lang="en-US" sz="1200" dirty="0" err="1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por</a:t>
            </a: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 </a:t>
            </a:r>
            <a:r>
              <a:rPr lang="en-US" sz="1200" dirty="0" err="1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Mês</a:t>
            </a:r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072880" y="1930400"/>
            <a:ext cx="2844800" cy="24892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9255760" y="1993900"/>
            <a:ext cx="24807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Top Sellers</a:t>
            </a:r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377440" y="4572000"/>
            <a:ext cx="6492240" cy="20066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560320" y="46355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Receita </a:t>
            </a:r>
            <a:r>
              <a:rPr lang="en-US" sz="1200" dirty="0" err="1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por</a:t>
            </a: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 </a:t>
            </a:r>
            <a:r>
              <a:rPr lang="en-US" sz="1200" dirty="0" err="1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Categoria</a:t>
            </a:r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072880" y="4572000"/>
            <a:ext cx="2844800" cy="2006600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9255760" y="4635500"/>
            <a:ext cx="2480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Concentração </a:t>
            </a:r>
            <a:r>
              <a:rPr lang="en-US" sz="1200" dirty="0" err="1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por</a:t>
            </a:r>
            <a:r>
              <a:rPr lang="en-US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 Estado</a:t>
            </a:r>
            <a:endParaRPr lang="en-US" sz="12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912" name="Rule"/>
          <p:cNvSpPr/>
          <p:nvPr/>
        </p:nvSpPr>
        <p:spPr>
          <a:xfrm>
            <a:off x="2560320" y="2260600"/>
            <a:ext cx="612648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4" name="Rule"/>
          <p:cNvSpPr/>
          <p:nvPr/>
        </p:nvSpPr>
        <p:spPr>
          <a:xfrm>
            <a:off x="9255760" y="2260600"/>
            <a:ext cx="248031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6" name="Rule"/>
          <p:cNvSpPr/>
          <p:nvPr/>
        </p:nvSpPr>
        <p:spPr>
          <a:xfrm>
            <a:off x="2560320" y="4902200"/>
            <a:ext cx="612648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18" name="Rule"/>
          <p:cNvSpPr/>
          <p:nvPr/>
        </p:nvSpPr>
        <p:spPr>
          <a:xfrm>
            <a:off x="9255760" y="4902200"/>
            <a:ext cx="248031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9189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2506B-DF69-5B39-ECC8-B50A7026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nvas BG">
            <a:extLst>
              <a:ext uri="{FF2B5EF4-FFF2-40B4-BE49-F238E27FC236}">
                <a16:creationId xmlns:a16="http://schemas.microsoft.com/office/drawing/2014/main" id="{E10361C0-DA08-48CF-975D-C28982D36BE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E2EC4D0-D527-172F-9E2D-A1C70AA31B2D}"/>
              </a:ext>
            </a:extLst>
          </p:cNvPr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6A614D3-34E2-0342-79D7-A8554232D300}"/>
              </a:ext>
            </a:extLst>
          </p:cNvPr>
          <p:cNvSpPr/>
          <p:nvPr/>
        </p:nvSpPr>
        <p:spPr>
          <a:xfrm>
            <a:off x="228600" y="2560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C80435-156E-5C71-EB2F-672F13B63D45}"/>
              </a:ext>
            </a:extLst>
          </p:cNvPr>
          <p:cNvSpPr/>
          <p:nvPr/>
        </p:nvSpPr>
        <p:spPr>
          <a:xfrm>
            <a:off x="228600" y="256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3D651B4-C451-8A09-7239-BEBDA3F0587D}"/>
              </a:ext>
            </a:extLst>
          </p:cNvPr>
          <p:cNvSpPr/>
          <p:nvPr/>
        </p:nvSpPr>
        <p:spPr>
          <a:xfrm>
            <a:off x="713232" y="237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Olist Analytics</a:t>
            </a:r>
            <a:endParaRPr lang="en-US" sz="13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013F948-C62A-1DDB-F996-68256C01C852}"/>
              </a:ext>
            </a:extLst>
          </p:cNvPr>
          <p:cNvSpPr/>
          <p:nvPr/>
        </p:nvSpPr>
        <p:spPr>
          <a:xfrm>
            <a:off x="228600" y="7772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B42AE9-D051-2C47-F484-E1F26874C5A5}"/>
              </a:ext>
            </a:extLst>
          </p:cNvPr>
          <p:cNvSpPr/>
          <p:nvPr/>
        </p:nvSpPr>
        <p:spPr>
          <a:xfrm>
            <a:off x="228600" y="896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416D94E-C3BF-81D6-0488-275EC62D4926}"/>
              </a:ext>
            </a:extLst>
          </p:cNvPr>
          <p:cNvSpPr/>
          <p:nvPr/>
        </p:nvSpPr>
        <p:spPr>
          <a:xfrm>
            <a:off x="411480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Visão</a:t>
            </a:r>
            <a:r>
              <a:rPr lang="en-US" sz="1100" dirty="0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Executiva</a:t>
            </a:r>
            <a:endParaRPr lang="en-US" sz="1100" dirty="0">
              <a:solidFill>
                <a:srgbClr val="1E1F22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227C8C1-8880-A670-9222-4FD6645AAF03}"/>
              </a:ext>
            </a:extLst>
          </p:cNvPr>
          <p:cNvSpPr/>
          <p:nvPr/>
        </p:nvSpPr>
        <p:spPr>
          <a:xfrm>
            <a:off x="41148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Sellers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D1A22A5-6CA9-6FD0-9A8A-569C7472EBCA}"/>
              </a:ext>
            </a:extLst>
          </p:cNvPr>
          <p:cNvSpPr/>
          <p:nvPr/>
        </p:nvSpPr>
        <p:spPr>
          <a:xfrm>
            <a:off x="411480" y="2157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Logística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05237F0-2FE6-E307-0FAE-8F1E03B9DC01}"/>
              </a:ext>
            </a:extLst>
          </p:cNvPr>
          <p:cNvSpPr/>
          <p:nvPr/>
        </p:nvSpPr>
        <p:spPr>
          <a:xfrm>
            <a:off x="411480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Geografia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B91551E-440E-9D38-335A-8079A4118A72}"/>
              </a:ext>
            </a:extLst>
          </p:cNvPr>
          <p:cNvSpPr/>
          <p:nvPr/>
        </p:nvSpPr>
        <p:spPr>
          <a:xfrm>
            <a:off x="228600" y="62636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41B2BBE-08F2-E786-14AE-4C94D2C80270}"/>
              </a:ext>
            </a:extLst>
          </p:cNvPr>
          <p:cNvSpPr/>
          <p:nvPr/>
        </p:nvSpPr>
        <p:spPr>
          <a:xfrm>
            <a:off x="228600" y="6400800"/>
            <a:ext cx="329184" cy="329184"/>
          </a:xfrm>
          <a:prstGeom prst="ellipse">
            <a:avLst/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F0C326C-332E-89D8-871A-1B472D5A2E03}"/>
              </a:ext>
            </a:extLst>
          </p:cNvPr>
          <p:cNvSpPr/>
          <p:nvPr/>
        </p:nvSpPr>
        <p:spPr>
          <a:xfrm>
            <a:off x="22860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8C2771E-4030-6C95-B8BB-0BB6EACD73C9}"/>
              </a:ext>
            </a:extLst>
          </p:cNvPr>
          <p:cNvSpPr/>
          <p:nvPr/>
        </p:nvSpPr>
        <p:spPr>
          <a:xfrm>
            <a:off x="640080" y="6382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F22"/>
                </a:solidFill>
                <a:latin typeface="Segoe UI Semilight" panose="020B0402040204020203" pitchFamily="34" charset="0"/>
                <a:ea typeface="Segoe UI" pitchFamily="34" charset="-122"/>
                <a:cs typeface="Segoe UI Semilight" panose="020B0402040204020203" pitchFamily="34" charset="0"/>
              </a:rPr>
              <a:t>Eloisa Ribeiro</a:t>
            </a:r>
            <a:endParaRPr lang="en-US" sz="10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B7D80F2-ED8D-1A4E-44F3-86773ECA248B}"/>
              </a:ext>
            </a:extLst>
          </p:cNvPr>
          <p:cNvSpPr/>
          <p:nvPr/>
        </p:nvSpPr>
        <p:spPr>
          <a:xfrm>
            <a:off x="640080" y="6578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Analista de BI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856B23E-A06D-EE58-B867-4379BBFAB44A}"/>
              </a:ext>
            </a:extLst>
          </p:cNvPr>
          <p:cNvSpPr/>
          <p:nvPr/>
        </p:nvSpPr>
        <p:spPr>
          <a:xfrm>
            <a:off x="2377440" y="21160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dirty="0">
                <a:solidFill>
                  <a:srgbClr val="1D474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Performance Sellers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D139BD8-0319-53AB-F920-E4EBC450BCEC}"/>
              </a:ext>
            </a:extLst>
          </p:cNvPr>
          <p:cNvSpPr/>
          <p:nvPr/>
        </p:nvSpPr>
        <p:spPr>
          <a:xfrm>
            <a:off x="10424160" y="2926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41BCDB5-A074-1C63-FF4B-B1E8AE007E68}"/>
              </a:ext>
            </a:extLst>
          </p:cNvPr>
          <p:cNvSpPr/>
          <p:nvPr/>
        </p:nvSpPr>
        <p:spPr>
          <a:xfrm>
            <a:off x="10424160" y="292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 ▾</a:t>
            </a:r>
            <a:endParaRPr lang="en-US" sz="1100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C7103771-887A-F781-CED2-F3FD81AE895A}"/>
              </a:ext>
            </a:extLst>
          </p:cNvPr>
          <p:cNvSpPr/>
          <p:nvPr/>
        </p:nvSpPr>
        <p:spPr>
          <a:xfrm>
            <a:off x="164592" y="1700784"/>
            <a:ext cx="45719" cy="402336"/>
          </a:xfrm>
          <a:prstGeom prst="roundRect">
            <a:avLst>
              <a:gd name="adj" fmla="val 18182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19" name="Card 1"/>
          <p:cNvSpPr/>
          <p:nvPr/>
        </p:nvSpPr>
        <p:spPr>
          <a:xfrm>
            <a:off x="2374900" y="736600"/>
            <a:ext cx="223520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0" name="Card Label 1"/>
          <p:cNvSpPr/>
          <p:nvPr/>
        </p:nvSpPr>
        <p:spPr>
          <a:xfrm>
            <a:off x="254000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SELLERS ATIVOS</a:t>
            </a:r>
            <a:endParaRPr lang="pt-BR" sz="900" dirty="0"/>
          </a:p>
        </p:txBody>
      </p:sp>
      <p:sp>
        <p:nvSpPr>
          <p:cNvPr id="921" name="Card 2"/>
          <p:cNvSpPr/>
          <p:nvPr/>
        </p:nvSpPr>
        <p:spPr>
          <a:xfrm>
            <a:off x="4813300" y="736600"/>
            <a:ext cx="223520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2" name="Card Label 2"/>
          <p:cNvSpPr/>
          <p:nvPr/>
        </p:nvSpPr>
        <p:spPr>
          <a:xfrm>
            <a:off x="497840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50" dirty="0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QUANTIDADE DE PEDIDOS</a:t>
            </a:r>
            <a:endParaRPr lang="pt-BR" sz="900" dirty="0"/>
          </a:p>
        </p:txBody>
      </p:sp>
      <p:sp>
        <p:nvSpPr>
          <p:cNvPr id="923" name="Card 3"/>
          <p:cNvSpPr/>
          <p:nvPr/>
        </p:nvSpPr>
        <p:spPr>
          <a:xfrm>
            <a:off x="7251700" y="736600"/>
            <a:ext cx="223520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4" name="Card Label 3"/>
          <p:cNvSpPr/>
          <p:nvPr/>
        </p:nvSpPr>
        <p:spPr>
          <a:xfrm>
            <a:off x="741680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RECEITA MÉDIA POR SELLER</a:t>
            </a:r>
            <a:endParaRPr lang="pt-BR" sz="900" dirty="0"/>
          </a:p>
        </p:txBody>
      </p:sp>
      <p:sp>
        <p:nvSpPr>
          <p:cNvPr id="925" name="Card 4"/>
          <p:cNvSpPr/>
          <p:nvPr/>
        </p:nvSpPr>
        <p:spPr>
          <a:xfrm>
            <a:off x="9690100" y="736600"/>
            <a:ext cx="2235200" cy="10414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6" name="Card Label 4"/>
          <p:cNvSpPr/>
          <p:nvPr/>
        </p:nvSpPr>
        <p:spPr>
          <a:xfrm>
            <a:off x="9855200" y="86360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00" b="1" kern="0" spc="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SELLER TOP 1</a:t>
            </a:r>
            <a:endParaRPr lang="pt-BR" sz="900" dirty="0"/>
          </a:p>
        </p:txBody>
      </p:sp>
      <p:sp>
        <p:nvSpPr>
          <p:cNvPr id="927" name="Area 1"/>
          <p:cNvSpPr/>
          <p:nvPr/>
        </p:nvSpPr>
        <p:spPr>
          <a:xfrm>
            <a:off x="2374900" y="1930400"/>
            <a:ext cx="4673600" cy="2540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28" name="Area Title 1"/>
          <p:cNvSpPr/>
          <p:nvPr/>
        </p:nvSpPr>
        <p:spPr>
          <a:xfrm>
            <a:off x="2565400" y="1993900"/>
            <a:ext cx="43053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Desempenho dos Sellers: Receita x Ticket Médio</a:t>
            </a:r>
            <a:endParaRPr lang="pt-BR" sz="1200" dirty="0"/>
          </a:p>
        </p:txBody>
      </p:sp>
      <p:sp>
        <p:nvSpPr>
          <p:cNvPr id="929" name="Rule"/>
          <p:cNvSpPr/>
          <p:nvPr/>
        </p:nvSpPr>
        <p:spPr>
          <a:xfrm>
            <a:off x="2565400" y="2260600"/>
            <a:ext cx="430530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30" name="Area 2"/>
          <p:cNvSpPr/>
          <p:nvPr/>
        </p:nvSpPr>
        <p:spPr>
          <a:xfrm>
            <a:off x="7226300" y="1930400"/>
            <a:ext cx="4699000" cy="25400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31" name="Area Title 2"/>
          <p:cNvSpPr/>
          <p:nvPr/>
        </p:nvSpPr>
        <p:spPr>
          <a:xfrm>
            <a:off x="7416800" y="1993900"/>
            <a:ext cx="4330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Concentração de Receita por Seller</a:t>
            </a:r>
            <a:endParaRPr lang="pt-BR" sz="1200" dirty="0"/>
          </a:p>
        </p:txBody>
      </p:sp>
      <p:sp>
        <p:nvSpPr>
          <p:cNvPr id="932" name="Rule"/>
          <p:cNvSpPr/>
          <p:nvPr/>
        </p:nvSpPr>
        <p:spPr>
          <a:xfrm>
            <a:off x="7416800" y="2260600"/>
            <a:ext cx="433070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33" name="Area 3"/>
          <p:cNvSpPr/>
          <p:nvPr/>
        </p:nvSpPr>
        <p:spPr>
          <a:xfrm>
            <a:off x="2374900" y="4648200"/>
            <a:ext cx="9550400" cy="193040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34" name="Area Title 3"/>
          <p:cNvSpPr/>
          <p:nvPr/>
        </p:nvSpPr>
        <p:spPr>
          <a:xfrm>
            <a:off x="2565400" y="4711700"/>
            <a:ext cx="9182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Detalhamento de Sellers</a:t>
            </a:r>
            <a:endParaRPr lang="pt-BR" sz="1200" dirty="0"/>
          </a:p>
        </p:txBody>
      </p:sp>
      <p:sp>
        <p:nvSpPr>
          <p:cNvPr id="935" name="Rule"/>
          <p:cNvSpPr/>
          <p:nvPr/>
        </p:nvSpPr>
        <p:spPr>
          <a:xfrm>
            <a:off x="2565400" y="4978400"/>
            <a:ext cx="9182100" cy="9525"/>
          </a:xfrm>
          <a:prstGeom prst="rect">
            <a:avLst/>
          </a:prstGeom>
          <a:solidFill>
            <a:srgbClr val="B8B9B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3216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6CDC35-3CA3-DA02-337D-7DE3E8E1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nvas BG">
            <a:extLst>
              <a:ext uri="{FF2B5EF4-FFF2-40B4-BE49-F238E27FC236}">
                <a16:creationId xmlns:a16="http://schemas.microsoft.com/office/drawing/2014/main" id="{C78247F1-57E5-40C8-8A71-FA215FFB7D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C0ABBC6-F11F-1B19-8073-AA97DCA2A697}"/>
              </a:ext>
            </a:extLst>
          </p:cNvPr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BF15DD-DAD1-CD36-B5AC-B1992884D5FA}"/>
              </a:ext>
            </a:extLst>
          </p:cNvPr>
          <p:cNvSpPr/>
          <p:nvPr/>
        </p:nvSpPr>
        <p:spPr>
          <a:xfrm>
            <a:off x="228600" y="2560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EE1686F-D56B-5D50-FAE0-275B36E8F649}"/>
              </a:ext>
            </a:extLst>
          </p:cNvPr>
          <p:cNvSpPr/>
          <p:nvPr/>
        </p:nvSpPr>
        <p:spPr>
          <a:xfrm>
            <a:off x="228600" y="256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67B8322-58F1-D8F1-3294-4B407976F495}"/>
              </a:ext>
            </a:extLst>
          </p:cNvPr>
          <p:cNvSpPr/>
          <p:nvPr/>
        </p:nvSpPr>
        <p:spPr>
          <a:xfrm>
            <a:off x="713232" y="237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Olist Analytics</a:t>
            </a:r>
            <a:endParaRPr lang="en-US" sz="13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D7723D8-A8F5-794F-6AA4-F49BB2859028}"/>
              </a:ext>
            </a:extLst>
          </p:cNvPr>
          <p:cNvSpPr/>
          <p:nvPr/>
        </p:nvSpPr>
        <p:spPr>
          <a:xfrm>
            <a:off x="228600" y="7772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D307CC9-0394-299E-4119-C4ADC2EF3DF7}"/>
              </a:ext>
            </a:extLst>
          </p:cNvPr>
          <p:cNvSpPr/>
          <p:nvPr/>
        </p:nvSpPr>
        <p:spPr>
          <a:xfrm>
            <a:off x="228600" y="896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7ECBF1D-8815-B13B-1960-5899B9572840}"/>
              </a:ext>
            </a:extLst>
          </p:cNvPr>
          <p:cNvSpPr/>
          <p:nvPr/>
        </p:nvSpPr>
        <p:spPr>
          <a:xfrm>
            <a:off x="411480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Visão</a:t>
            </a:r>
            <a:r>
              <a:rPr lang="en-US" sz="1100" dirty="0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Executiva</a:t>
            </a:r>
            <a:endParaRPr lang="en-US" sz="1100" dirty="0">
              <a:solidFill>
                <a:srgbClr val="1E1F22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E1791CE-FAE0-08FE-CA78-E3FDF9B5C22B}"/>
              </a:ext>
            </a:extLst>
          </p:cNvPr>
          <p:cNvSpPr/>
          <p:nvPr/>
        </p:nvSpPr>
        <p:spPr>
          <a:xfrm>
            <a:off x="41148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Sellers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727F7FE-4A44-4F9F-8745-84D045BA4140}"/>
              </a:ext>
            </a:extLst>
          </p:cNvPr>
          <p:cNvSpPr/>
          <p:nvPr/>
        </p:nvSpPr>
        <p:spPr>
          <a:xfrm>
            <a:off x="411480" y="2157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Logística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E6B7490-7A99-0B2D-34AB-681CE9AF6637}"/>
              </a:ext>
            </a:extLst>
          </p:cNvPr>
          <p:cNvSpPr/>
          <p:nvPr/>
        </p:nvSpPr>
        <p:spPr>
          <a:xfrm>
            <a:off x="411480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Geografia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EA8EE03-DE93-3AF0-F4A9-01747F83909C}"/>
              </a:ext>
            </a:extLst>
          </p:cNvPr>
          <p:cNvSpPr/>
          <p:nvPr/>
        </p:nvSpPr>
        <p:spPr>
          <a:xfrm>
            <a:off x="228600" y="62636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31EA23B-3758-4F91-22AF-A5015D90BA32}"/>
              </a:ext>
            </a:extLst>
          </p:cNvPr>
          <p:cNvSpPr/>
          <p:nvPr/>
        </p:nvSpPr>
        <p:spPr>
          <a:xfrm>
            <a:off x="228600" y="6400800"/>
            <a:ext cx="329184" cy="329184"/>
          </a:xfrm>
          <a:prstGeom prst="ellipse">
            <a:avLst/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3E0B8BB-98DA-01B3-30FB-02A12B039E21}"/>
              </a:ext>
            </a:extLst>
          </p:cNvPr>
          <p:cNvSpPr/>
          <p:nvPr/>
        </p:nvSpPr>
        <p:spPr>
          <a:xfrm>
            <a:off x="22860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C5BE5C-4B2C-CEE4-6EB8-74346AAB2FDC}"/>
              </a:ext>
            </a:extLst>
          </p:cNvPr>
          <p:cNvSpPr/>
          <p:nvPr/>
        </p:nvSpPr>
        <p:spPr>
          <a:xfrm>
            <a:off x="640080" y="6382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F22"/>
                </a:solidFill>
                <a:latin typeface="Segoe UI Semilight" panose="020B0402040204020203" pitchFamily="34" charset="0"/>
                <a:ea typeface="Segoe UI" pitchFamily="34" charset="-122"/>
                <a:cs typeface="Segoe UI Semilight" panose="020B0402040204020203" pitchFamily="34" charset="0"/>
              </a:rPr>
              <a:t>Eloisa Ribeiro</a:t>
            </a:r>
            <a:endParaRPr lang="en-US" sz="10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83E47F3-0C49-4B66-AE1F-1472EAC3FBA0}"/>
              </a:ext>
            </a:extLst>
          </p:cNvPr>
          <p:cNvSpPr/>
          <p:nvPr/>
        </p:nvSpPr>
        <p:spPr>
          <a:xfrm>
            <a:off x="640080" y="6578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Analista de BI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8362BEA-E6E8-D770-FE0C-CA3F752DA2C7}"/>
              </a:ext>
            </a:extLst>
          </p:cNvPr>
          <p:cNvSpPr/>
          <p:nvPr/>
        </p:nvSpPr>
        <p:spPr>
          <a:xfrm>
            <a:off x="2377440" y="21160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dirty="0">
                <a:solidFill>
                  <a:srgbClr val="1D474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Logística e Satisfação do Cliente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FAC5A675-1273-8FFB-7AE2-D9331569FE43}"/>
              </a:ext>
            </a:extLst>
          </p:cNvPr>
          <p:cNvSpPr/>
          <p:nvPr/>
        </p:nvSpPr>
        <p:spPr>
          <a:xfrm>
            <a:off x="10424160" y="2926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6FC83C1-7EF4-4303-DCDD-E63C4C7C3184}"/>
              </a:ext>
            </a:extLst>
          </p:cNvPr>
          <p:cNvSpPr/>
          <p:nvPr/>
        </p:nvSpPr>
        <p:spPr>
          <a:xfrm>
            <a:off x="10424160" y="292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 ▾</a:t>
            </a:r>
            <a:endParaRPr lang="en-US" sz="1100" dirty="0"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BA2B72F5-F457-BEEE-5C5A-30B8CA68C572}"/>
              </a:ext>
            </a:extLst>
          </p:cNvPr>
          <p:cNvGrpSpPr/>
          <p:nvPr/>
        </p:nvGrpSpPr>
        <p:grpSpPr>
          <a:xfrm>
            <a:off x="2377440" y="736600"/>
            <a:ext cx="5919167" cy="2870200"/>
            <a:chOff x="2377440" y="2331720"/>
            <a:chExt cx="6492240" cy="2331720"/>
          </a:xfrm>
        </p:grpSpPr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36865175-A472-DB75-4A5A-184B196AF0FF}"/>
                </a:ext>
              </a:extLst>
            </p:cNvPr>
            <p:cNvSpPr/>
            <p:nvPr/>
          </p:nvSpPr>
          <p:spPr>
            <a:xfrm>
              <a:off x="2377440" y="2331720"/>
              <a:ext cx="6492240" cy="23317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9AF30373-D212-CBA5-006C-E99F1FBB155A}"/>
                </a:ext>
              </a:extLst>
            </p:cNvPr>
            <p:cNvSpPr/>
            <p:nvPr/>
          </p:nvSpPr>
          <p:spPr>
            <a:xfrm>
              <a:off x="2560320" y="2353159"/>
              <a:ext cx="61264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pt-BR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Prazo de Entrega x Nota de Avaliação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2" name="Rule">
              <a:extLst>
                <a:ext uri="{FF2B5EF4-FFF2-40B4-BE49-F238E27FC236}">
                  <a16:creationId xmlns:a16="http://schemas.microsoft.com/office/drawing/2014/main" id="{C4356BB2-EAB0-A398-C77D-43F12DEE6551}"/>
                </a:ext>
              </a:extLst>
            </p:cNvPr>
            <p:cNvSpPr/>
            <p:nvPr/>
          </p:nvSpPr>
          <p:spPr>
            <a:xfrm>
              <a:off x="2584688" y="2615573"/>
              <a:ext cx="6108700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E66E7BB7-5191-BC51-765C-B1CAEE2EC9D8}"/>
              </a:ext>
            </a:extLst>
          </p:cNvPr>
          <p:cNvGrpSpPr/>
          <p:nvPr/>
        </p:nvGrpSpPr>
        <p:grpSpPr>
          <a:xfrm>
            <a:off x="8441690" y="736600"/>
            <a:ext cx="3466641" cy="2870200"/>
            <a:chOff x="9070848" y="2331720"/>
            <a:chExt cx="2846527" cy="2331720"/>
          </a:xfrm>
        </p:grpSpPr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5A129793-DE6B-69A3-DA9C-215E8156986A}"/>
                </a:ext>
              </a:extLst>
            </p:cNvPr>
            <p:cNvSpPr/>
            <p:nvPr/>
          </p:nvSpPr>
          <p:spPr>
            <a:xfrm>
              <a:off x="9070848" y="2331720"/>
              <a:ext cx="2846527" cy="23317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8694267B-6AB2-D2CF-39D2-248AD48DCBD4}"/>
                </a:ext>
              </a:extLst>
            </p:cNvPr>
            <p:cNvSpPr/>
            <p:nvPr/>
          </p:nvSpPr>
          <p:spPr>
            <a:xfrm>
              <a:off x="9241333" y="2348595"/>
              <a:ext cx="2480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Pedidos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Entregues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no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Prazo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4" name="Rule">
              <a:extLst>
                <a:ext uri="{FF2B5EF4-FFF2-40B4-BE49-F238E27FC236}">
                  <a16:creationId xmlns:a16="http://schemas.microsoft.com/office/drawing/2014/main" id="{58BE0485-F4D3-244E-C65C-69B09CF6F5B3}"/>
                </a:ext>
              </a:extLst>
            </p:cNvPr>
            <p:cNvSpPr/>
            <p:nvPr/>
          </p:nvSpPr>
          <p:spPr>
            <a:xfrm>
              <a:off x="9241333" y="2619184"/>
              <a:ext cx="2463800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969166FB-7819-1F11-A481-CA7FDCF6A074}"/>
              </a:ext>
            </a:extLst>
          </p:cNvPr>
          <p:cNvGrpSpPr/>
          <p:nvPr/>
        </p:nvGrpSpPr>
        <p:grpSpPr>
          <a:xfrm>
            <a:off x="2377440" y="3708400"/>
            <a:ext cx="4894655" cy="2870200"/>
            <a:chOff x="2368956" y="4864608"/>
            <a:chExt cx="4669384" cy="1719072"/>
          </a:xfrm>
        </p:grpSpPr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6764854B-E04A-2BCA-EC38-3FF949936B35}"/>
                </a:ext>
              </a:extLst>
            </p:cNvPr>
            <p:cNvSpPr/>
            <p:nvPr/>
          </p:nvSpPr>
          <p:spPr>
            <a:xfrm>
              <a:off x="2368956" y="4864608"/>
              <a:ext cx="4669384" cy="1719072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65154500-2A59-834A-5B8F-10A50BF9FC84}"/>
                </a:ext>
              </a:extLst>
            </p:cNvPr>
            <p:cNvSpPr/>
            <p:nvPr/>
          </p:nvSpPr>
          <p:spPr>
            <a:xfrm>
              <a:off x="2559887" y="4864608"/>
              <a:ext cx="4303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Prazo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Médio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de Entrega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6" name="Rule">
              <a:extLst>
                <a:ext uri="{FF2B5EF4-FFF2-40B4-BE49-F238E27FC236}">
                  <a16:creationId xmlns:a16="http://schemas.microsoft.com/office/drawing/2014/main" id="{66B3F2B9-5F31-D2D4-DD28-6B614CA500E2}"/>
                </a:ext>
              </a:extLst>
            </p:cNvPr>
            <p:cNvSpPr/>
            <p:nvPr/>
          </p:nvSpPr>
          <p:spPr>
            <a:xfrm>
              <a:off x="2565400" y="5086591"/>
              <a:ext cx="4292600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099BE0B6-C68E-721F-9885-5F6B1ACA5F0F}"/>
              </a:ext>
            </a:extLst>
          </p:cNvPr>
          <p:cNvGrpSpPr/>
          <p:nvPr/>
        </p:nvGrpSpPr>
        <p:grpSpPr>
          <a:xfrm>
            <a:off x="7430770" y="3708400"/>
            <a:ext cx="4478020" cy="2870200"/>
            <a:chOff x="7247992" y="4864608"/>
            <a:chExt cx="4660900" cy="1719072"/>
          </a:xfrm>
        </p:grpSpPr>
        <p:sp>
          <p:nvSpPr>
            <p:cNvPr id="42" name="Shape 40">
              <a:extLst>
                <a:ext uri="{FF2B5EF4-FFF2-40B4-BE49-F238E27FC236}">
                  <a16:creationId xmlns:a16="http://schemas.microsoft.com/office/drawing/2014/main" id="{3483596F-6728-1DDB-6970-67B322BE7C79}"/>
                </a:ext>
              </a:extLst>
            </p:cNvPr>
            <p:cNvSpPr/>
            <p:nvPr/>
          </p:nvSpPr>
          <p:spPr>
            <a:xfrm>
              <a:off x="7247992" y="4864608"/>
              <a:ext cx="4660900" cy="1719072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43" name="Text 41">
              <a:extLst>
                <a:ext uri="{FF2B5EF4-FFF2-40B4-BE49-F238E27FC236}">
                  <a16:creationId xmlns:a16="http://schemas.microsoft.com/office/drawing/2014/main" id="{0D3BCB35-E298-F641-48D2-BD52A6D1D898}"/>
                </a:ext>
              </a:extLst>
            </p:cNvPr>
            <p:cNvSpPr/>
            <p:nvPr/>
          </p:nvSpPr>
          <p:spPr>
            <a:xfrm>
              <a:off x="7448549" y="4868443"/>
              <a:ext cx="42799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Evolução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da Nota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Média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8" name="Rule">
              <a:extLst>
                <a:ext uri="{FF2B5EF4-FFF2-40B4-BE49-F238E27FC236}">
                  <a16:creationId xmlns:a16="http://schemas.microsoft.com/office/drawing/2014/main" id="{1A0D8C05-05B6-6CCE-4F30-D64A46B7B620}"/>
                </a:ext>
              </a:extLst>
            </p:cNvPr>
            <p:cNvSpPr/>
            <p:nvPr/>
          </p:nvSpPr>
          <p:spPr>
            <a:xfrm>
              <a:off x="7442200" y="5098276"/>
              <a:ext cx="4292600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2" name="Shape 6">
            <a:extLst>
              <a:ext uri="{FF2B5EF4-FFF2-40B4-BE49-F238E27FC236}">
                <a16:creationId xmlns:a16="http://schemas.microsoft.com/office/drawing/2014/main" id="{A927A678-6350-FD78-806F-E77CD94E95BD}"/>
              </a:ext>
            </a:extLst>
          </p:cNvPr>
          <p:cNvSpPr/>
          <p:nvPr/>
        </p:nvSpPr>
        <p:spPr>
          <a:xfrm>
            <a:off x="164592" y="2157984"/>
            <a:ext cx="45719" cy="402336"/>
          </a:xfrm>
          <a:prstGeom prst="roundRect">
            <a:avLst>
              <a:gd name="adj" fmla="val 18182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7957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37CA03-60E6-DE8E-B48E-361AD30E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nvas BG">
            <a:extLst>
              <a:ext uri="{FF2B5EF4-FFF2-40B4-BE49-F238E27FC236}">
                <a16:creationId xmlns:a16="http://schemas.microsoft.com/office/drawing/2014/main" id="{5AB58748-0BDA-42A4-BBD4-374015ED13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13C29B9-0DFE-E51A-87C3-EF91E72945ED}"/>
              </a:ext>
            </a:extLst>
          </p:cNvPr>
          <p:cNvSpPr/>
          <p:nvPr/>
        </p:nvSpPr>
        <p:spPr>
          <a:xfrm>
            <a:off x="0" y="0"/>
            <a:ext cx="2103120" cy="6858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FA1073B-BD45-E1F1-499B-5A11131C4CE7}"/>
              </a:ext>
            </a:extLst>
          </p:cNvPr>
          <p:cNvSpPr/>
          <p:nvPr/>
        </p:nvSpPr>
        <p:spPr>
          <a:xfrm>
            <a:off x="228600" y="2560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6BC1894-0F2A-D362-3014-9B0809225DA2}"/>
              </a:ext>
            </a:extLst>
          </p:cNvPr>
          <p:cNvSpPr/>
          <p:nvPr/>
        </p:nvSpPr>
        <p:spPr>
          <a:xfrm>
            <a:off x="228600" y="256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Segoe UI" pitchFamily="34" charset="0"/>
                <a:cs typeface="Segoe UI" pitchFamily="34" charset="-120"/>
              </a:rPr>
              <a:t>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11BDC8D-F4E9-E2A8-46B5-C180860DE50E}"/>
              </a:ext>
            </a:extLst>
          </p:cNvPr>
          <p:cNvSpPr/>
          <p:nvPr/>
        </p:nvSpPr>
        <p:spPr>
          <a:xfrm>
            <a:off x="713232" y="2377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F22"/>
                </a:solidFill>
                <a:latin typeface="Segoe UI Light" panose="020B0502040204020203" pitchFamily="34" charset="0"/>
                <a:ea typeface="Segoe UI" pitchFamily="34" charset="-122"/>
                <a:cs typeface="Segoe UI Light" panose="020B0502040204020203" pitchFamily="34" charset="0"/>
              </a:rPr>
              <a:t>Olist Analytics</a:t>
            </a:r>
            <a:endParaRPr lang="en-US" sz="13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7E07129-2964-00C5-7787-07D1134C9CC4}"/>
              </a:ext>
            </a:extLst>
          </p:cNvPr>
          <p:cNvSpPr/>
          <p:nvPr/>
        </p:nvSpPr>
        <p:spPr>
          <a:xfrm>
            <a:off x="228600" y="7772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76A28FD-CE9A-B039-8708-7CDB5BAE9F9D}"/>
              </a:ext>
            </a:extLst>
          </p:cNvPr>
          <p:cNvSpPr/>
          <p:nvPr/>
        </p:nvSpPr>
        <p:spPr>
          <a:xfrm>
            <a:off x="228600" y="8961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</a:t>
            </a:r>
            <a:endParaRPr lang="en-US" sz="9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2C8BCE8-354C-5713-456C-E9CD9E759C10}"/>
              </a:ext>
            </a:extLst>
          </p:cNvPr>
          <p:cNvSpPr/>
          <p:nvPr/>
        </p:nvSpPr>
        <p:spPr>
          <a:xfrm>
            <a:off x="411480" y="11704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 err="1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Visão</a:t>
            </a:r>
            <a:r>
              <a:rPr lang="en-US" sz="1100" dirty="0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 </a:t>
            </a:r>
            <a:r>
              <a:rPr lang="en-US" sz="1100" dirty="0" err="1">
                <a:solidFill>
                  <a:srgbClr val="6E7075"/>
                </a:solidFill>
                <a:latin typeface="Segoe UI" pitchFamily="34" charset="0"/>
                <a:cs typeface="Segoe UI" pitchFamily="34" charset="-120"/>
              </a:rPr>
              <a:t>Executiva</a:t>
            </a:r>
            <a:endParaRPr lang="en-US" sz="1100" dirty="0">
              <a:solidFill>
                <a:srgbClr val="1E1F22"/>
              </a:solidFill>
              <a:latin typeface="Segoe UI" pitchFamily="34" charset="0"/>
              <a:cs typeface="Segoe UI" pitchFamily="34" charset="-12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76E305D-C8A4-B450-FFA1-825672474A41}"/>
              </a:ext>
            </a:extLst>
          </p:cNvPr>
          <p:cNvSpPr/>
          <p:nvPr/>
        </p:nvSpPr>
        <p:spPr>
          <a:xfrm>
            <a:off x="411480" y="17007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Sellers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ABAC758-5A6F-137D-790D-5AA6BCBA2BB0}"/>
              </a:ext>
            </a:extLst>
          </p:cNvPr>
          <p:cNvSpPr/>
          <p:nvPr/>
        </p:nvSpPr>
        <p:spPr>
          <a:xfrm>
            <a:off x="411480" y="21579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Logística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C879D18-9109-D1D7-5CA5-8B7E1E493FA3}"/>
              </a:ext>
            </a:extLst>
          </p:cNvPr>
          <p:cNvSpPr/>
          <p:nvPr/>
        </p:nvSpPr>
        <p:spPr>
          <a:xfrm>
            <a:off x="411480" y="2615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E6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Geografia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7102086E-E0DE-CB4A-2393-7A2AC00F0FC5}"/>
              </a:ext>
            </a:extLst>
          </p:cNvPr>
          <p:cNvSpPr/>
          <p:nvPr/>
        </p:nvSpPr>
        <p:spPr>
          <a:xfrm>
            <a:off x="228600" y="6263640"/>
            <a:ext cx="1645920" cy="0"/>
          </a:xfrm>
          <a:prstGeom prst="line">
            <a:avLst/>
          </a:prstGeom>
          <a:noFill/>
          <a:ln w="9525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0A1402C-4B4B-B0ED-B05F-F8B8620959C5}"/>
              </a:ext>
            </a:extLst>
          </p:cNvPr>
          <p:cNvSpPr/>
          <p:nvPr/>
        </p:nvSpPr>
        <p:spPr>
          <a:xfrm>
            <a:off x="228600" y="6400800"/>
            <a:ext cx="329184" cy="329184"/>
          </a:xfrm>
          <a:prstGeom prst="ellipse">
            <a:avLst/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515AA4D-E1DA-13F3-BA90-480AC6352E37}"/>
              </a:ext>
            </a:extLst>
          </p:cNvPr>
          <p:cNvSpPr/>
          <p:nvPr/>
        </p:nvSpPr>
        <p:spPr>
          <a:xfrm>
            <a:off x="228600" y="6400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ER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C2109CC-8A3F-D67E-FC3D-35A3596F88CA}"/>
              </a:ext>
            </a:extLst>
          </p:cNvPr>
          <p:cNvSpPr/>
          <p:nvPr/>
        </p:nvSpPr>
        <p:spPr>
          <a:xfrm>
            <a:off x="640080" y="638251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1F22"/>
                </a:solidFill>
                <a:latin typeface="Segoe UI Semilight" panose="020B0402040204020203" pitchFamily="34" charset="0"/>
                <a:ea typeface="Segoe UI" pitchFamily="34" charset="-122"/>
                <a:cs typeface="Segoe UI Semilight" panose="020B0402040204020203" pitchFamily="34" charset="0"/>
              </a:rPr>
              <a:t>Eloisa Ribeiro</a:t>
            </a:r>
            <a:endParaRPr lang="en-US" sz="1000" dirty="0">
              <a:latin typeface="Segoe UI Semilight" panose="020B0402040204020203" pitchFamily="34" charset="0"/>
              <a:cs typeface="Segoe UI Semilight" panose="020B0402040204020203" pitchFamily="34" charset="0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FA9D5D4-F8EF-D929-74AA-4EBD9A780341}"/>
              </a:ext>
            </a:extLst>
          </p:cNvPr>
          <p:cNvSpPr/>
          <p:nvPr/>
        </p:nvSpPr>
        <p:spPr>
          <a:xfrm>
            <a:off x="640080" y="6578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E70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Analista de BI</a:t>
            </a:r>
            <a:endParaRPr lang="en-US" sz="8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9AEC19D-5369-5687-E7B6-2762D6ED0588}"/>
              </a:ext>
            </a:extLst>
          </p:cNvPr>
          <p:cNvSpPr/>
          <p:nvPr/>
        </p:nvSpPr>
        <p:spPr>
          <a:xfrm>
            <a:off x="2377440" y="211605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dirty="0">
                <a:solidFill>
                  <a:srgbClr val="1D474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Semilight" panose="020B0402040204020203" pitchFamily="34" charset="0"/>
              </a:rPr>
              <a:t>Oportunidade Geográfica</a:t>
            </a: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32A49B13-A956-0E96-79F4-A7424AE665B3}"/>
              </a:ext>
            </a:extLst>
          </p:cNvPr>
          <p:cNvSpPr/>
          <p:nvPr/>
        </p:nvSpPr>
        <p:spPr>
          <a:xfrm>
            <a:off x="10424160" y="292608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B8B9BD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6BA3CCBD-58BD-8557-CA42-8B3F2F9893BD}"/>
              </a:ext>
            </a:extLst>
          </p:cNvPr>
          <p:cNvSpPr/>
          <p:nvPr/>
        </p:nvSpPr>
        <p:spPr>
          <a:xfrm>
            <a:off x="10424160" y="2926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1F2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Filtros  ▾</a:t>
            </a:r>
            <a:endParaRPr lang="en-US" sz="1100" dirty="0"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4BBFEB45-1DC3-458F-983E-773018E1DB31}"/>
              </a:ext>
            </a:extLst>
          </p:cNvPr>
          <p:cNvGrpSpPr/>
          <p:nvPr/>
        </p:nvGrpSpPr>
        <p:grpSpPr>
          <a:xfrm>
            <a:off x="2377440" y="736600"/>
            <a:ext cx="4716626" cy="2870200"/>
            <a:chOff x="2377440" y="2331720"/>
            <a:chExt cx="6492240" cy="2331720"/>
          </a:xfrm>
        </p:grpSpPr>
        <p:sp>
          <p:nvSpPr>
            <p:cNvPr id="34" name="Shape 32">
              <a:extLst>
                <a:ext uri="{FF2B5EF4-FFF2-40B4-BE49-F238E27FC236}">
                  <a16:creationId xmlns:a16="http://schemas.microsoft.com/office/drawing/2014/main" id="{A512FD71-5636-8770-FFBE-4002BBF29B49}"/>
                </a:ext>
              </a:extLst>
            </p:cNvPr>
            <p:cNvSpPr/>
            <p:nvPr/>
          </p:nvSpPr>
          <p:spPr>
            <a:xfrm>
              <a:off x="2377440" y="2331720"/>
              <a:ext cx="6492240" cy="23317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5" name="Text 33">
              <a:extLst>
                <a:ext uri="{FF2B5EF4-FFF2-40B4-BE49-F238E27FC236}">
                  <a16:creationId xmlns:a16="http://schemas.microsoft.com/office/drawing/2014/main" id="{8E7960ED-66E2-1C12-E18D-B622091C3B56}"/>
                </a:ext>
              </a:extLst>
            </p:cNvPr>
            <p:cNvSpPr/>
            <p:nvPr/>
          </p:nvSpPr>
          <p:spPr>
            <a:xfrm>
              <a:off x="2565400" y="2340221"/>
              <a:ext cx="61264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Receita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por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Estado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2" name="Rule">
              <a:extLst>
                <a:ext uri="{FF2B5EF4-FFF2-40B4-BE49-F238E27FC236}">
                  <a16:creationId xmlns:a16="http://schemas.microsoft.com/office/drawing/2014/main" id="{74C83406-C049-D8A1-1743-78C0AAC9AE44}"/>
                </a:ext>
              </a:extLst>
            </p:cNvPr>
            <p:cNvSpPr/>
            <p:nvPr/>
          </p:nvSpPr>
          <p:spPr>
            <a:xfrm>
              <a:off x="2565400" y="2604804"/>
              <a:ext cx="6108699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983124E4-641D-471E-4262-DEBE7E1B29C5}"/>
              </a:ext>
            </a:extLst>
          </p:cNvPr>
          <p:cNvGrpSpPr/>
          <p:nvPr/>
        </p:nvGrpSpPr>
        <p:grpSpPr>
          <a:xfrm>
            <a:off x="7235190" y="736600"/>
            <a:ext cx="4673479" cy="2870200"/>
            <a:chOff x="9070848" y="2348382"/>
            <a:chExt cx="2846527" cy="2331933"/>
          </a:xfrm>
        </p:grpSpPr>
        <p:sp>
          <p:nvSpPr>
            <p:cNvPr id="37" name="Shape 35">
              <a:extLst>
                <a:ext uri="{FF2B5EF4-FFF2-40B4-BE49-F238E27FC236}">
                  <a16:creationId xmlns:a16="http://schemas.microsoft.com/office/drawing/2014/main" id="{20A538EB-E2A1-C2A1-18A8-2AE3C249F206}"/>
                </a:ext>
              </a:extLst>
            </p:cNvPr>
            <p:cNvSpPr/>
            <p:nvPr/>
          </p:nvSpPr>
          <p:spPr>
            <a:xfrm>
              <a:off x="9070848" y="2348595"/>
              <a:ext cx="2846527" cy="2331720"/>
            </a:xfrm>
            <a:prstGeom prst="roundRect">
              <a:avLst>
                <a:gd name="adj" fmla="val 3922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38" name="Text 36">
              <a:extLst>
                <a:ext uri="{FF2B5EF4-FFF2-40B4-BE49-F238E27FC236}">
                  <a16:creationId xmlns:a16="http://schemas.microsoft.com/office/drawing/2014/main" id="{B92F1BF5-CCE6-73F5-A6BE-0EED85771A85}"/>
                </a:ext>
              </a:extLst>
            </p:cNvPr>
            <p:cNvSpPr/>
            <p:nvPr/>
          </p:nvSpPr>
          <p:spPr>
            <a:xfrm>
              <a:off x="9258300" y="2348382"/>
              <a:ext cx="24807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Sellers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por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Estado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4" name="Rule">
              <a:extLst>
                <a:ext uri="{FF2B5EF4-FFF2-40B4-BE49-F238E27FC236}">
                  <a16:creationId xmlns:a16="http://schemas.microsoft.com/office/drawing/2014/main" id="{B0FF5C32-A029-85BB-F7C1-974B82572382}"/>
                </a:ext>
              </a:extLst>
            </p:cNvPr>
            <p:cNvSpPr/>
            <p:nvPr/>
          </p:nvSpPr>
          <p:spPr>
            <a:xfrm>
              <a:off x="9258300" y="2603653"/>
              <a:ext cx="2463800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36" name="Agrupar 35">
            <a:extLst>
              <a:ext uri="{FF2B5EF4-FFF2-40B4-BE49-F238E27FC236}">
                <a16:creationId xmlns:a16="http://schemas.microsoft.com/office/drawing/2014/main" id="{CDF4659B-586C-C126-BEAF-4231DAEEFF2B}"/>
              </a:ext>
            </a:extLst>
          </p:cNvPr>
          <p:cNvGrpSpPr/>
          <p:nvPr/>
        </p:nvGrpSpPr>
        <p:grpSpPr>
          <a:xfrm>
            <a:off x="2377440" y="3708400"/>
            <a:ext cx="9518244" cy="2870200"/>
            <a:chOff x="2368956" y="4837556"/>
            <a:chExt cx="4669384" cy="1746124"/>
          </a:xfrm>
        </p:grpSpPr>
        <p:sp>
          <p:nvSpPr>
            <p:cNvPr id="40" name="Shape 38">
              <a:extLst>
                <a:ext uri="{FF2B5EF4-FFF2-40B4-BE49-F238E27FC236}">
                  <a16:creationId xmlns:a16="http://schemas.microsoft.com/office/drawing/2014/main" id="{BA7016F7-BDC5-12FC-142D-AF4862FB8738}"/>
                </a:ext>
              </a:extLst>
            </p:cNvPr>
            <p:cNvSpPr/>
            <p:nvPr/>
          </p:nvSpPr>
          <p:spPr>
            <a:xfrm>
              <a:off x="2368956" y="4864608"/>
              <a:ext cx="4669384" cy="1719072"/>
            </a:xfrm>
            <a:prstGeom prst="roundRect">
              <a:avLst>
                <a:gd name="adj" fmla="val 5319"/>
              </a:avLst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/>
            <a:p>
              <a:endParaRPr lang="pt-BR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41" name="Text 39">
              <a:extLst>
                <a:ext uri="{FF2B5EF4-FFF2-40B4-BE49-F238E27FC236}">
                  <a16:creationId xmlns:a16="http://schemas.microsoft.com/office/drawing/2014/main" id="{9CF7D3CE-D179-07E5-F68B-6388205D9873}"/>
                </a:ext>
              </a:extLst>
            </p:cNvPr>
            <p:cNvSpPr/>
            <p:nvPr/>
          </p:nvSpPr>
          <p:spPr>
            <a:xfrm>
              <a:off x="2475944" y="4837556"/>
              <a:ext cx="430362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Oportunidades</a:t>
              </a:r>
              <a:r>
                <a:rPr lang="en-US" sz="1200" dirty="0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 de </a:t>
              </a:r>
              <a:r>
                <a:rPr lang="en-US" sz="1200" dirty="0" err="1">
                  <a:solidFill>
                    <a:srgbClr val="1E1F22"/>
                  </a:solidFill>
                  <a:latin typeface="Segoe UI Light" panose="020B0502040204020203" pitchFamily="34" charset="0"/>
                  <a:ea typeface="Segoe UI" pitchFamily="34" charset="-122"/>
                  <a:cs typeface="Segoe UI Light" panose="020B0502040204020203" pitchFamily="34" charset="0"/>
                </a:rPr>
                <a:t>Expansão</a:t>
              </a:r>
              <a:endParaRPr lang="en-US" sz="12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916" name="Rule">
              <a:extLst>
                <a:ext uri="{FF2B5EF4-FFF2-40B4-BE49-F238E27FC236}">
                  <a16:creationId xmlns:a16="http://schemas.microsoft.com/office/drawing/2014/main" id="{5F3D5C1F-CC1C-FD9E-23B0-F44CD4D1EB81}"/>
                </a:ext>
              </a:extLst>
            </p:cNvPr>
            <p:cNvSpPr/>
            <p:nvPr/>
          </p:nvSpPr>
          <p:spPr>
            <a:xfrm>
              <a:off x="2494444" y="5078737"/>
              <a:ext cx="4292600" cy="9525"/>
            </a:xfrm>
            <a:prstGeom prst="rect">
              <a:avLst/>
            </a:prstGeom>
            <a:solidFill>
              <a:srgbClr val="B8B9BD"/>
            </a:solidFill>
            <a:ln>
              <a:noFill/>
            </a:ln>
          </p:spPr>
          <p:txBody>
            <a:bodyPr/>
            <a:lstStyle/>
            <a:p>
              <a:endParaRPr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sp>
        <p:nvSpPr>
          <p:cNvPr id="23" name="Shape 6">
            <a:extLst>
              <a:ext uri="{FF2B5EF4-FFF2-40B4-BE49-F238E27FC236}">
                <a16:creationId xmlns:a16="http://schemas.microsoft.com/office/drawing/2014/main" id="{22B36F51-E47B-9475-AFF6-24143F28E87C}"/>
              </a:ext>
            </a:extLst>
          </p:cNvPr>
          <p:cNvSpPr/>
          <p:nvPr/>
        </p:nvSpPr>
        <p:spPr>
          <a:xfrm>
            <a:off x="164592" y="2614168"/>
            <a:ext cx="45719" cy="402336"/>
          </a:xfrm>
          <a:prstGeom prst="roundRect">
            <a:avLst>
              <a:gd name="adj" fmla="val 18182"/>
            </a:avLst>
          </a:prstGeom>
          <a:solidFill>
            <a:srgbClr val="2F6E6A"/>
          </a:solidFill>
          <a:ln/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4914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6029643156]">
  <a:themeElements>
    <a:clrScheme name="Office">
      <a:dk1>
        <a:srgbClr val="1E1F22"/>
      </a:dk1>
      <a:lt1>
        <a:srgbClr val="FFFFFF"/>
      </a:lt1>
      <a:dk2>
        <a:srgbClr val="26374A"/>
      </a:dk2>
      <a:lt2>
        <a:srgbClr val="F2F2F2"/>
      </a:lt2>
      <a:accent1>
        <a:srgbClr val="2F6E6A"/>
      </a:accent1>
      <a:accent2>
        <a:srgbClr val="3C5470"/>
      </a:accent2>
      <a:accent3>
        <a:srgbClr val="7A9471"/>
      </a:accent3>
      <a:accent4>
        <a:srgbClr val="C9A227"/>
      </a:accent4>
      <a:accent5>
        <a:srgbClr val="BC5B3E"/>
      </a:accent5>
      <a:accent6>
        <a:srgbClr val="7A5C7E"/>
      </a:accent6>
      <a:hlink>
        <a:srgbClr val="95D9C3"/>
      </a:hlink>
      <a:folHlink>
        <a:srgbClr val="948B8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9D153DF-79E6-4CF0-859A-957965813734}">
  <we:reference id="wa200010725" version="1.0.0.1" store="pt-BR" storeType="OMEX"/>
  <we:alternateReferences>
    <we:reference id="WA200010725" version="1.0.0.1" store="" storeType="OMEX"/>
  </we:alternateReferences>
  <we:properties>
    <we:property name="claude.fileId" value="&quot;9f39907a-41cb-4912-98d9-d99f62196371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DC3D6E9-BA5A-4702-B0AD-EC355BA92F7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ddba1d2f-54f7-420e-9378-d14de797f76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267</Words>
  <Application>Microsoft Office PowerPoint</Application>
  <PresentationFormat>Widescreen</PresentationFormat>
  <Paragraphs>102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Arial</vt:lpstr>
      <vt:lpstr>Segoe UI</vt:lpstr>
      <vt:lpstr>Segoe UI Black</vt:lpstr>
      <vt:lpstr>Segoe UI Light</vt:lpstr>
      <vt:lpstr>Segoe UI Semibold</vt:lpstr>
      <vt:lpstr>Segoe UI Semilight</vt:lpstr>
      <vt:lpstr>Office Theme [1786029643156]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Eloisa Ribeiro de Almeida</cp:lastModifiedBy>
  <cp:revision>6</cp:revision>
  <dcterms:created xsi:type="dcterms:W3CDTF">2026-07-29T00:00:04Z</dcterms:created>
  <dcterms:modified xsi:type="dcterms:W3CDTF">2026-08-06T21:27:58Z</dcterms:modified>
</cp:coreProperties>
</file>